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  <p:sldId id="270" r:id="rId16"/>
    <p:sldId id="266" r:id="rId17"/>
    <p:sldId id="267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k Shaikh" userId="ef68dcef458459ae" providerId="LiveId" clId="{7B28B8EE-5792-4B3D-A269-279C49ECED79}"/>
    <pc:docChg chg="modSld sldOrd">
      <pc:chgData name="Mahek Shaikh" userId="ef68dcef458459ae" providerId="LiveId" clId="{7B28B8EE-5792-4B3D-A269-279C49ECED79}" dt="2025-12-16T05:03:52.995" v="1"/>
      <pc:docMkLst>
        <pc:docMk/>
      </pc:docMkLst>
      <pc:sldChg chg="ord">
        <pc:chgData name="Mahek Shaikh" userId="ef68dcef458459ae" providerId="LiveId" clId="{7B28B8EE-5792-4B3D-A269-279C49ECED79}" dt="2025-12-16T05:03:52.995" v="1"/>
        <pc:sldMkLst>
          <pc:docMk/>
          <pc:sldMk cId="949335723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F0EB9-9B72-0417-0B43-7B562D091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2C77C-0BFE-25FB-E4BC-43DB922B7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EFFBC-F203-EF17-AF0B-B8610FB3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C44B-3601-413D-90C5-D6D0ABC762B7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1A259-B5CA-02CA-8678-864237FCC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F7A57-C37F-4D43-FEFA-386FFD70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59F2-03F2-441E-A5BA-63F84818C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870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D5AF3-855C-9951-FD81-5CE87B939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62077-8F9F-6A6C-8838-0AC1D56F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2B461-F410-E846-55D4-408C3EDEE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C44B-3601-413D-90C5-D6D0ABC762B7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00576-DE67-5430-3A79-A4E5F1FA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97A12-7371-9226-A30E-D1ECE056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59F2-03F2-441E-A5BA-63F84818C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46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865A5-1483-5FA3-B808-F84BFAA29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BC529-AA78-88A3-4534-D5E9B5284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6EF4E-CBD1-D3AC-A362-2C2496E56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C44B-3601-413D-90C5-D6D0ABC762B7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040D0-F7B7-906A-38AE-956AAD65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11A08-92A5-2B03-39C0-F742E43F0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59F2-03F2-441E-A5BA-63F84818C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433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9271-7370-BC99-D5A4-358B147D6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3CD5D-B5B2-E801-CF25-A859FB9522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78E3B-9C34-FE78-EFA6-3495CF123A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FF160-8921-F5E8-FC66-632442366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C44B-3601-413D-90C5-D6D0ABC762B7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4A630-1099-D84A-E521-5F1E711BE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C5958-D9A9-DE76-8CD5-F06F8D8D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59F2-03F2-441E-A5BA-63F84818C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485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C936-BA76-AAC4-D9BB-7C7575B7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17EF8-9FAA-F7A4-A029-177F51989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1A05B-07ED-495A-1406-611A63B66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526F4-255D-2D0A-55B7-64431C9A93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8640C-5E0A-F804-EA0C-D966DBA3CE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87EDBE-4375-2F0C-F15E-FF8B8543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C44B-3601-413D-90C5-D6D0ABC762B7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042291-3334-8004-4A67-5FCAF8EC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9954D-D998-FA54-0BAA-6C6F5646A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59F2-03F2-441E-A5BA-63F84818C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91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C843-6E5E-4E65-2037-6CFAF82C5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365F10-A89D-15FB-4C4E-BC057FAF5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C44B-3601-413D-90C5-D6D0ABC762B7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B079E-5C56-5E46-EF38-B061D0087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36905-9BBF-631D-B438-858BC8D0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59F2-03F2-441E-A5BA-63F84818C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315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D6106C-FCB8-31FE-B847-1F921196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C44B-3601-413D-90C5-D6D0ABC762B7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9583C-1126-3640-A165-331269B39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CA090-7190-6CED-7910-6B034403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59F2-03F2-441E-A5BA-63F84818C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576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E852-CCA3-F7D0-101C-C9B3AF6D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612D2-7259-5DE2-E5A4-EE811B195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5D931-7206-7BE3-C75A-69C6527DF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A55F5-E55E-A1BA-2783-83CC863D5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C44B-3601-413D-90C5-D6D0ABC762B7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9298E-187F-D225-17DD-50A1CBAF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FBA03-7908-7E41-D0CE-50387344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59F2-03F2-441E-A5BA-63F84818C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4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AD041-5B24-43B2-BCC4-52DA24C2D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02A3E8-672D-E35A-498C-D6900BDC6A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8E2A9-CA78-BB33-0BD8-4E4BAF6B1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A798E-F352-AD9B-408C-19C99ED48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C44B-3601-413D-90C5-D6D0ABC762B7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5A035-0EEA-3DEC-AE75-86564AE65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21E4B-74BB-5DEF-3AC0-CD54FDFC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59F2-03F2-441E-A5BA-63F84818C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158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C84C8-D2D2-494A-280B-68B14034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2768D-5D7E-EE77-A58C-1F84F8537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63858-F96C-E86B-C359-CCD0798DC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C44B-3601-413D-90C5-D6D0ABC762B7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67B32-8B1F-81F4-4A50-BDA6704EE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CD45D-AB34-AB7A-9778-EF27809C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59F2-03F2-441E-A5BA-63F84818C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81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08E7E5-AD07-7BDD-FE25-FF78F5B78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02A79-AD8C-F2B7-54B8-F3FF957D8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56371-C588-7F99-3643-2E7DF64A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BC44B-3601-413D-90C5-D6D0ABC762B7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ECFBF-160F-F0DE-F609-9F265D53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FD57E-44FF-D04F-4A0B-97942312B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159F2-03F2-441E-A5BA-63F84818C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753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48DE24-4DFA-5950-9FC7-1284C6A2B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6CE5E-E198-F610-3818-837D8CF1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C117A-DC99-5677-6C8E-76D9C0B93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BC44B-3601-413D-90C5-D6D0ABC762B7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A967B-3BBD-5BA8-F6EB-BE0F8BFF8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BF1A3-889F-EA32-00AC-C10F36C8B2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159F2-03F2-441E-A5BA-63F84818C2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51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mailto:vichitrasomshekar23@gmail.com" TargetMode="External"/><Relationship Id="rId3" Type="http://schemas.openxmlformats.org/officeDocument/2006/relationships/hyperlink" Target="mailto:shaikhmahekmohsin@gmail.com" TargetMode="External"/><Relationship Id="rId7" Type="http://schemas.openxmlformats.org/officeDocument/2006/relationships/hyperlink" Target="mailto:krishnakishor764@gmail.com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talamarlagiridhar@gmail.com" TargetMode="External"/><Relationship Id="rId5" Type="http://schemas.openxmlformats.org/officeDocument/2006/relationships/hyperlink" Target="mailto:aryanmbarot1169@gmail.com" TargetMode="External"/><Relationship Id="rId4" Type="http://schemas.openxmlformats.org/officeDocument/2006/relationships/hyperlink" Target="mailto:rakshadhanu15@gmail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B21938-118F-7A35-D1E0-6B40F7704E0C}"/>
              </a:ext>
            </a:extLst>
          </p:cNvPr>
          <p:cNvSpPr txBox="1"/>
          <p:nvPr/>
        </p:nvSpPr>
        <p:spPr>
          <a:xfrm>
            <a:off x="1498293" y="705079"/>
            <a:ext cx="883552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dirty="0">
                <a:solidFill>
                  <a:srgbClr val="FF0000"/>
                </a:solidFill>
                <a:latin typeface="Stencil" panose="040409050D0802020404" pitchFamily="82" charset="0"/>
              </a:rPr>
              <a:t>O</a:t>
            </a:r>
            <a:r>
              <a:rPr lang="en-US" sz="8000" dirty="0">
                <a:latin typeface="Stencil" panose="040409050D0802020404" pitchFamily="82" charset="0"/>
              </a:rPr>
              <a:t>LIST </a:t>
            </a:r>
          </a:p>
          <a:p>
            <a:pPr lvl="1" algn="ctr"/>
            <a:r>
              <a:rPr lang="en-US" sz="8000" dirty="0">
                <a:latin typeface="Stencil" panose="040409050D0802020404" pitchFamily="82" charset="0"/>
              </a:rPr>
              <a:t>PERFORMANCE </a:t>
            </a:r>
          </a:p>
          <a:p>
            <a:pPr lvl="1" algn="ctr"/>
            <a:r>
              <a:rPr lang="en-US" sz="8000" dirty="0">
                <a:latin typeface="Stencil" panose="040409050D0802020404" pitchFamily="82" charset="0"/>
              </a:rPr>
              <a:t>ANALYSI</a:t>
            </a:r>
            <a:r>
              <a:rPr lang="en-US" sz="8000" dirty="0">
                <a:solidFill>
                  <a:srgbClr val="00B050"/>
                </a:solidFill>
                <a:latin typeface="Stencil" panose="040409050D0802020404" pitchFamily="82" charset="0"/>
              </a:rPr>
              <a:t>S</a:t>
            </a:r>
            <a:endParaRPr lang="en-IN" sz="8000" dirty="0">
              <a:solidFill>
                <a:srgbClr val="00B050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767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8AFF7-BDD5-BE3D-68C8-E88B7394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4A5971-5AF5-E918-DAD5-02E8F8087509}"/>
              </a:ext>
            </a:extLst>
          </p:cNvPr>
          <p:cNvSpPr txBox="1"/>
          <p:nvPr/>
        </p:nvSpPr>
        <p:spPr>
          <a:xfrm>
            <a:off x="740228" y="380999"/>
            <a:ext cx="58919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  <a:latin typeface="Stencil" panose="040409050D0802020404" pitchFamily="82" charset="0"/>
              </a:rPr>
              <a:t>T</a:t>
            </a:r>
            <a:r>
              <a:rPr lang="en-IN" sz="4800" dirty="0">
                <a:latin typeface="Stencil" panose="040409050D0802020404" pitchFamily="82" charset="0"/>
              </a:rPr>
              <a:t>eam</a:t>
            </a:r>
            <a:r>
              <a:rPr lang="en-IN" sz="4800" dirty="0">
                <a:solidFill>
                  <a:srgbClr val="FF0000"/>
                </a:solidFill>
                <a:latin typeface="Stencil" panose="040409050D0802020404" pitchFamily="82" charset="0"/>
              </a:rPr>
              <a:t> </a:t>
            </a:r>
            <a:r>
              <a:rPr lang="en-IN" sz="4800" dirty="0">
                <a:latin typeface="Stencil" panose="040409050D0802020404" pitchFamily="82" charset="0"/>
              </a:rPr>
              <a:t>Member</a:t>
            </a:r>
            <a:r>
              <a:rPr lang="en-IN" sz="4800" dirty="0">
                <a:solidFill>
                  <a:schemeClr val="accent6"/>
                </a:solidFill>
                <a:latin typeface="Stencil" panose="040409050D0802020404" pitchFamily="82" charset="0"/>
              </a:rPr>
              <a:t>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1A8BC5-BD29-F9B0-0641-9CFFDF9CFECE}"/>
              </a:ext>
            </a:extLst>
          </p:cNvPr>
          <p:cNvSpPr txBox="1"/>
          <p:nvPr/>
        </p:nvSpPr>
        <p:spPr>
          <a:xfrm>
            <a:off x="740229" y="1851093"/>
            <a:ext cx="95049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                                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MaiI 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Mahek Shaikh   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shaikhmahekmohsin@gmail.com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Rakshitha T J 	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rakshadhanu15@gmail.com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Aryan Barot 	                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aryanmbarot1169@gmail.com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Talamarla Giridhar Gowd	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talamarlagiridhar@gmail.com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 Kishor B.K	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krishnakishor764@gmail.com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Vichitra Somashekar 	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vichitrasomshekar23@gmail.com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Patibandla Sai Kushal                            </a:t>
            </a:r>
            <a:r>
              <a:rPr lang="en-US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patibandlasaikushal@gmail.com</a:t>
            </a:r>
          </a:p>
        </p:txBody>
      </p:sp>
    </p:spTree>
    <p:extLst>
      <p:ext uri="{BB962C8B-B14F-4D97-AF65-F5344CB8AC3E}">
        <p14:creationId xmlns:p14="http://schemas.microsoft.com/office/powerpoint/2010/main" val="949335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443DD3-D153-9F1D-E9B3-330CE200F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7" y="1285859"/>
            <a:ext cx="10002646" cy="121937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D23916-1111-CE85-0047-B4E695096724}"/>
              </a:ext>
            </a:extLst>
          </p:cNvPr>
          <p:cNvSpPr txBox="1"/>
          <p:nvPr/>
        </p:nvSpPr>
        <p:spPr>
          <a:xfrm>
            <a:off x="4660727" y="130984"/>
            <a:ext cx="23730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rgbClr val="FF0000"/>
                </a:solidFill>
                <a:latin typeface="Stencil" panose="040409050D0802020404" pitchFamily="82" charset="0"/>
              </a:rPr>
              <a:t>O</a:t>
            </a:r>
            <a:r>
              <a:rPr lang="en-US" sz="3600" dirty="0">
                <a:latin typeface="Stencil" panose="040409050D0802020404" pitchFamily="82" charset="0"/>
              </a:rPr>
              <a:t>LIS</a:t>
            </a:r>
            <a:r>
              <a:rPr lang="en-US" sz="3600" dirty="0">
                <a:solidFill>
                  <a:srgbClr val="00B050"/>
                </a:solidFill>
                <a:latin typeface="Stencil" panose="040409050D0802020404" pitchFamily="82" charset="0"/>
              </a:rPr>
              <a:t>T</a:t>
            </a:r>
            <a:endParaRPr lang="en-IN" sz="36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B49AC-73FE-3D34-7E0A-7690C9B0B3AE}"/>
              </a:ext>
            </a:extLst>
          </p:cNvPr>
          <p:cNvSpPr txBox="1"/>
          <p:nvPr/>
        </p:nvSpPr>
        <p:spPr>
          <a:xfrm>
            <a:off x="1777311" y="1753775"/>
            <a:ext cx="4441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rial Nova Cond" panose="020B0506020202020204" pitchFamily="34" charset="0"/>
              </a:rPr>
              <a:t>Olist dashboard performance analysis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F27871-F3B2-82B1-F36B-0A7BAD2E2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814" y="2589274"/>
            <a:ext cx="598713" cy="5286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C44F56-6FDE-30D6-92F8-7E9766F08BEF}"/>
              </a:ext>
            </a:extLst>
          </p:cNvPr>
          <p:cNvSpPr txBox="1"/>
          <p:nvPr/>
        </p:nvSpPr>
        <p:spPr>
          <a:xfrm>
            <a:off x="1883230" y="2681847"/>
            <a:ext cx="1937657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Arial Nova Cond" panose="020B0506020202020204" pitchFamily="34" charset="0"/>
              </a:rPr>
              <a:t>RECENT SEARCHS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516B612-4C6B-187E-2E48-1133AF73F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8861" y="3176373"/>
            <a:ext cx="314369" cy="342948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1C1460F-96FB-0B38-2484-76C996F8C468}"/>
              </a:ext>
            </a:extLst>
          </p:cNvPr>
          <p:cNvSpPr txBox="1"/>
          <p:nvPr/>
        </p:nvSpPr>
        <p:spPr>
          <a:xfrm>
            <a:off x="1892141" y="3192139"/>
            <a:ext cx="536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 vs weekend payment statistics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148C668-81C1-F8CA-22A0-94AD8945D4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8861" y="3626064"/>
            <a:ext cx="314369" cy="342948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E361145-5102-9F4B-1DF4-639213F51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8860" y="4087560"/>
            <a:ext cx="314369" cy="342948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F45C026-21E4-41A2-B8AA-773CBA754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8859" y="4549056"/>
            <a:ext cx="314369" cy="342948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30539A-B1D6-00AE-4E16-BC85240AB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772" y="5010552"/>
            <a:ext cx="314369" cy="342948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42C4DFF-A672-01FF-5487-573E424DC3DB}"/>
              </a:ext>
            </a:extLst>
          </p:cNvPr>
          <p:cNvSpPr txBox="1"/>
          <p:nvPr/>
        </p:nvSpPr>
        <p:spPr>
          <a:xfrm>
            <a:off x="1883228" y="3631223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with review score 5 and payment type credit card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399EFD-364A-2973-2805-382B57343693}"/>
              </a:ext>
            </a:extLst>
          </p:cNvPr>
          <p:cNvSpPr txBox="1"/>
          <p:nvPr/>
        </p:nvSpPr>
        <p:spPr>
          <a:xfrm>
            <a:off x="1892141" y="408437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number of days taken to delivery for pet shop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FDEB88-0180-7C2B-8970-82F8E07AA126}"/>
              </a:ext>
            </a:extLst>
          </p:cNvPr>
          <p:cNvSpPr txBox="1"/>
          <p:nvPr/>
        </p:nvSpPr>
        <p:spPr>
          <a:xfrm>
            <a:off x="1883228" y="4547461"/>
            <a:ext cx="7000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and payment values from customers of sao Paulo city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35A5A5-3041-5755-6FE9-030A30A1B523}"/>
              </a:ext>
            </a:extLst>
          </p:cNvPr>
          <p:cNvSpPr txBox="1"/>
          <p:nvPr/>
        </p:nvSpPr>
        <p:spPr>
          <a:xfrm>
            <a:off x="1917527" y="5000608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shipping days vs review score</a:t>
            </a:r>
          </a:p>
        </p:txBody>
      </p:sp>
    </p:spTree>
    <p:extLst>
      <p:ext uri="{BB962C8B-B14F-4D97-AF65-F5344CB8AC3E}">
        <p14:creationId xmlns:p14="http://schemas.microsoft.com/office/powerpoint/2010/main" val="2602767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graph with a pie chart&#10;&#10;AI-generated content may be incorrect.">
            <a:extLst>
              <a:ext uri="{FF2B5EF4-FFF2-40B4-BE49-F238E27FC236}">
                <a16:creationId xmlns:a16="http://schemas.microsoft.com/office/drawing/2014/main" id="{364529CF-33A7-D90F-9850-BBB78746D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03752" y="1674955"/>
            <a:ext cx="2993571" cy="35213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260319-E9E3-81DB-C984-DF401A503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7" y="154185"/>
            <a:ext cx="10002646" cy="121937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0675AE-9F9C-3532-6247-3A1C6D48B6E4}"/>
              </a:ext>
            </a:extLst>
          </p:cNvPr>
          <p:cNvSpPr txBox="1"/>
          <p:nvPr/>
        </p:nvSpPr>
        <p:spPr>
          <a:xfrm>
            <a:off x="1796143" y="665898"/>
            <a:ext cx="446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Weekday vs weekend payment statistics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509E0A-D804-D262-D30B-244DC170AAD0}"/>
              </a:ext>
            </a:extLst>
          </p:cNvPr>
          <p:cNvSpPr txBox="1"/>
          <p:nvPr/>
        </p:nvSpPr>
        <p:spPr>
          <a:xfrm>
            <a:off x="1094676" y="1674955"/>
            <a:ext cx="6804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chart is 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 the proportion or percentage distribution of the total orders that occurs on weekdays VS weekends. This helps in understanding the daily orders pattern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6C7191-582D-9751-AA1F-F2D3F01DE957}"/>
              </a:ext>
            </a:extLst>
          </p:cNvPr>
          <p:cNvSpPr txBox="1"/>
          <p:nvPr/>
        </p:nvSpPr>
        <p:spPr>
          <a:xfrm>
            <a:off x="1094675" y="3435613"/>
            <a:ext cx="6661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Weekend: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orders occurring during the weekend Value: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3.51 Million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(M), accounting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22.79%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total.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D3F01-D200-6789-7ACD-0CB0131EF89F}"/>
              </a:ext>
            </a:extLst>
          </p:cNvPr>
          <p:cNvSpPr txBox="1"/>
          <p:nvPr/>
        </p:nvSpPr>
        <p:spPr>
          <a:xfrm>
            <a:off x="1094676" y="2782669"/>
            <a:ext cx="6661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Weekday: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orders that occurring during the week  Value: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11.91 Million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(M), accounting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77.21%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total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612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09D864-25E5-05CD-4A6B-81F47F08A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7" y="239708"/>
            <a:ext cx="10002646" cy="121937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933B0D-E2BE-55D3-E6BB-7575389503E6}"/>
              </a:ext>
            </a:extLst>
          </p:cNvPr>
          <p:cNvSpPr txBox="1"/>
          <p:nvPr/>
        </p:nvSpPr>
        <p:spPr>
          <a:xfrm>
            <a:off x="1796142" y="718458"/>
            <a:ext cx="5660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Orders with review score 5 and payment type credit card</a:t>
            </a:r>
          </a:p>
          <a:p>
            <a:endParaRPr lang="en-IN"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81C6A85-0997-B420-4136-48B894D3A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160" y="1937828"/>
            <a:ext cx="3315163" cy="3420565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1DCEAB-FCB4-6FB0-EE22-12E6471E40AC}"/>
              </a:ext>
            </a:extLst>
          </p:cNvPr>
          <p:cNvSpPr txBox="1"/>
          <p:nvPr/>
        </p:nvSpPr>
        <p:spPr>
          <a:xfrm>
            <a:off x="1094677" y="1937828"/>
            <a:ext cx="63620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chart is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quantify the number of top-rated orders (specifically 5-star) that utilized the credit card payment option It helps in assessing the popularity or usage of this payment method for high-quality transactions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70263-5055-8C77-6203-DEA9084CC825}"/>
              </a:ext>
            </a:extLst>
          </p:cNvPr>
          <p:cNvSpPr txBox="1"/>
          <p:nvPr/>
        </p:nvSpPr>
        <p:spPr>
          <a:xfrm>
            <a:off x="1094677" y="3352468"/>
            <a:ext cx="63620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count of 5-star orders paid for using a credit card  Value: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indicates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43,981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five-star orders were processed using a credit card</a:t>
            </a:r>
          </a:p>
        </p:txBody>
      </p:sp>
    </p:spTree>
    <p:extLst>
      <p:ext uri="{BB962C8B-B14F-4D97-AF65-F5344CB8AC3E}">
        <p14:creationId xmlns:p14="http://schemas.microsoft.com/office/powerpoint/2010/main" val="1880155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8A5B25-FF0C-F04C-2207-E9F4A2DB8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7" y="217937"/>
            <a:ext cx="10002646" cy="121937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242996-130B-7E19-6CDF-54FD995F2720}"/>
              </a:ext>
            </a:extLst>
          </p:cNvPr>
          <p:cNvSpPr txBox="1"/>
          <p:nvPr/>
        </p:nvSpPr>
        <p:spPr>
          <a:xfrm>
            <a:off x="1730829" y="700366"/>
            <a:ext cx="5889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Average number of days taken to delivery for pet shop</a:t>
            </a:r>
          </a:p>
          <a:p>
            <a:endParaRPr lang="en-IN" dirty="0"/>
          </a:p>
        </p:txBody>
      </p:sp>
      <p:pic>
        <p:nvPicPr>
          <p:cNvPr id="5" name="Picture 4" descr="A graph of a pet shop&#10;&#10;AI-generated content may be incorrect.">
            <a:extLst>
              <a:ext uri="{FF2B5EF4-FFF2-40B4-BE49-F238E27FC236}">
                <a16:creationId xmlns:a16="http://schemas.microsoft.com/office/drawing/2014/main" id="{24B604F9-7B58-FA31-35B3-36720FAE8A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582" y="1882449"/>
            <a:ext cx="3162741" cy="34720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07BD44-8BCA-76CB-3453-71E82B72F362}"/>
              </a:ext>
            </a:extLst>
          </p:cNvPr>
          <p:cNvSpPr txBox="1"/>
          <p:nvPr/>
        </p:nvSpPr>
        <p:spPr>
          <a:xfrm>
            <a:off x="1094677" y="182912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chart is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the average number of days associated with the “Pet Shop" category This is often used to track cycle time, fulfillment duration, or frequency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EDDF4-2F92-64D6-104C-05DC562C84D7}"/>
              </a:ext>
            </a:extLst>
          </p:cNvPr>
          <p:cNvSpPr txBox="1"/>
          <p:nvPr/>
        </p:nvSpPr>
        <p:spPr>
          <a:xfrm>
            <a:off x="1094677" y="31058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 Shop: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average number of days for this category Value: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12.50 days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77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579ADC-3D8F-EF89-0066-49B72D7F6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877" y="152622"/>
            <a:ext cx="10002646" cy="121937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AD1757-DD66-93B1-9A6B-B51C16642046}"/>
              </a:ext>
            </a:extLst>
          </p:cNvPr>
          <p:cNvSpPr txBox="1"/>
          <p:nvPr/>
        </p:nvSpPr>
        <p:spPr>
          <a:xfrm>
            <a:off x="1817913" y="631372"/>
            <a:ext cx="6607629" cy="646331"/>
          </a:xfrm>
          <a:prstGeom prst="rect">
            <a:avLst/>
          </a:prstGeom>
          <a:noFill/>
          <a:effectLst>
            <a:softEdge rad="152400"/>
          </a:effectLst>
        </p:spPr>
        <p:txBody>
          <a:bodyPr wrap="square" rtlCol="0">
            <a:spAutoFit/>
          </a:bodyPr>
          <a:lstStyle/>
          <a:p>
            <a:r>
              <a:rPr lang="en-IN" dirty="0"/>
              <a:t>Average price and payment values from customers of sao Paulo city</a:t>
            </a:r>
          </a:p>
          <a:p>
            <a:endParaRPr lang="en-IN" dirty="0"/>
          </a:p>
        </p:txBody>
      </p:sp>
      <p:pic>
        <p:nvPicPr>
          <p:cNvPr id="5" name="Picture 4" descr="A graph of a bar chart&#10;&#10;AI-generated content may be incorrect.">
            <a:extLst>
              <a:ext uri="{FF2B5EF4-FFF2-40B4-BE49-F238E27FC236}">
                <a16:creationId xmlns:a16="http://schemas.microsoft.com/office/drawing/2014/main" id="{651BDF68-5886-73BA-77B7-977D49CB2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164" y="1756453"/>
            <a:ext cx="3158359" cy="3504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010B83-8571-B86A-8152-537AC051D904}"/>
              </a:ext>
            </a:extLst>
          </p:cNvPr>
          <p:cNvSpPr txBox="1"/>
          <p:nvPr/>
        </p:nvSpPr>
        <p:spPr>
          <a:xfrm>
            <a:off x="1170877" y="1640091"/>
            <a:ext cx="67430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chart is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average price versus the average payment value for transactions originating from São Paulo City This helps identify if there's a difference between what the item is priced at and the final amount paid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7771F-593E-A323-3A52-C1B18A01DFA3}"/>
              </a:ext>
            </a:extLst>
          </p:cNvPr>
          <p:cNvSpPr txBox="1"/>
          <p:nvPr/>
        </p:nvSpPr>
        <p:spPr>
          <a:xfrm>
            <a:off x="1170877" y="3623401"/>
            <a:ext cx="6743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(Blue Bar):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average selling price Value: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50602C-DBA8-F332-6A61-052A3D219839}"/>
              </a:ext>
            </a:extLst>
          </p:cNvPr>
          <p:cNvSpPr txBox="1"/>
          <p:nvPr/>
        </p:nvSpPr>
        <p:spPr>
          <a:xfrm>
            <a:off x="1170877" y="2977070"/>
            <a:ext cx="6743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payment value (Yellow Bar):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average amount received in payment. Value: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861BD8-4FC0-FCE7-8CC2-D502FD0B60CB}"/>
              </a:ext>
            </a:extLst>
          </p:cNvPr>
          <p:cNvSpPr txBox="1"/>
          <p:nvPr/>
        </p:nvSpPr>
        <p:spPr>
          <a:xfrm>
            <a:off x="1170877" y="4266033"/>
            <a:ext cx="66139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payment value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Sao Paulo is significantly higher than the average price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107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suggesting that additional costs like shipping, taxes, or service fees are consistently added to the price</a:t>
            </a:r>
          </a:p>
        </p:txBody>
      </p:sp>
    </p:spTree>
    <p:extLst>
      <p:ext uri="{BB962C8B-B14F-4D97-AF65-F5344CB8AC3E}">
        <p14:creationId xmlns:p14="http://schemas.microsoft.com/office/powerpoint/2010/main" val="2260358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CCA9F6-CFD0-18A5-E568-FD9650C7D2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7" y="228822"/>
            <a:ext cx="10002646" cy="121937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973858-7106-E6BF-8555-91A34993637C}"/>
              </a:ext>
            </a:extLst>
          </p:cNvPr>
          <p:cNvSpPr txBox="1"/>
          <p:nvPr/>
        </p:nvSpPr>
        <p:spPr>
          <a:xfrm>
            <a:off x="1839686" y="696685"/>
            <a:ext cx="6226628" cy="646331"/>
          </a:xfrm>
          <a:prstGeom prst="rect">
            <a:avLst/>
          </a:prstGeom>
          <a:noFill/>
          <a:effectLst>
            <a:softEdge rad="127000"/>
          </a:effectLst>
        </p:spPr>
        <p:txBody>
          <a:bodyPr wrap="square" rtlCol="0">
            <a:spAutoFit/>
          </a:bodyPr>
          <a:lstStyle/>
          <a:p>
            <a:r>
              <a:rPr lang="en-IN" dirty="0"/>
              <a:t>Relationship between shipping days vs review score</a:t>
            </a:r>
          </a:p>
          <a:p>
            <a:endParaRPr lang="en-IN" dirty="0"/>
          </a:p>
        </p:txBody>
      </p:sp>
      <p:pic>
        <p:nvPicPr>
          <p:cNvPr id="5" name="Picture 4" descr="A graph of blue rectangles&#10;&#10;AI-generated content may be incorrect.">
            <a:extLst>
              <a:ext uri="{FF2B5EF4-FFF2-40B4-BE49-F238E27FC236}">
                <a16:creationId xmlns:a16="http://schemas.microsoft.com/office/drawing/2014/main" id="{C4663FF3-DA38-B85F-D458-EA272AA79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684" y="1810879"/>
            <a:ext cx="2812639" cy="39571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10D32B-5220-B1BD-3733-7A1B4E694E3B}"/>
              </a:ext>
            </a:extLst>
          </p:cNvPr>
          <p:cNvSpPr txBox="1"/>
          <p:nvPr/>
        </p:nvSpPr>
        <p:spPr>
          <a:xfrm>
            <a:off x="1094677" y="1810879"/>
            <a:ext cx="68410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this chart is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 the relationship between shipping time and customer satisfaction Specifically, it plots the average number of shipping days against the corresponding customer review score (1 to 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C17C7-84C7-A9A4-30A7-1FF12823534B}"/>
              </a:ext>
            </a:extLst>
          </p:cNvPr>
          <p:cNvSpPr txBox="1"/>
          <p:nvPr/>
        </p:nvSpPr>
        <p:spPr>
          <a:xfrm>
            <a:off x="1094677" y="3107444"/>
            <a:ext cx="6841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 (Shipping Days):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average delivery time in days.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A11278-8C8F-BD46-1C46-5255AB981E43}"/>
              </a:ext>
            </a:extLst>
          </p:cNvPr>
          <p:cNvSpPr txBox="1"/>
          <p:nvPr/>
        </p:nvSpPr>
        <p:spPr>
          <a:xfrm>
            <a:off x="1094677" y="3523627"/>
            <a:ext cx="68410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 (Review score):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customer rating (1 being lowest, 5 being highest).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91C25D-0EDB-9FBB-E057-ADBE04137F96}"/>
              </a:ext>
            </a:extLst>
          </p:cNvPr>
          <p:cNvSpPr txBox="1"/>
          <p:nvPr/>
        </p:nvSpPr>
        <p:spPr>
          <a:xfrm>
            <a:off x="1200839" y="4290697"/>
            <a:ext cx="67348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clear negative correlation (inverse relationship):  Lower review scores have the longest average shipping time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21.3 days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review scores have the shortest average shipping time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10.6 days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faster shipping leads to better reviews</a:t>
            </a:r>
          </a:p>
        </p:txBody>
      </p:sp>
    </p:spTree>
    <p:extLst>
      <p:ext uri="{BB962C8B-B14F-4D97-AF65-F5344CB8AC3E}">
        <p14:creationId xmlns:p14="http://schemas.microsoft.com/office/powerpoint/2010/main" val="4090330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7C01F8-68F9-4EB1-E2E1-57C0F5C1C2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7" y="261564"/>
            <a:ext cx="10302666" cy="1219370"/>
          </a:xfrm>
          <a:prstGeom prst="rect">
            <a:avLst/>
          </a:prstGeom>
          <a:effectLst>
            <a:softEdge rad="2032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FBFA40-AE8E-549A-DB2C-970251E86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7" y="1721287"/>
            <a:ext cx="10302666" cy="49990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A167A7-A2EA-2C4A-28D7-90C7FB0AB537}"/>
              </a:ext>
            </a:extLst>
          </p:cNvPr>
          <p:cNvSpPr txBox="1"/>
          <p:nvPr/>
        </p:nvSpPr>
        <p:spPr>
          <a:xfrm>
            <a:off x="1749846" y="763702"/>
            <a:ext cx="2569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PowerBI dashboard</a:t>
            </a:r>
          </a:p>
        </p:txBody>
      </p:sp>
    </p:spTree>
    <p:extLst>
      <p:ext uri="{BB962C8B-B14F-4D97-AF65-F5344CB8AC3E}">
        <p14:creationId xmlns:p14="http://schemas.microsoft.com/office/powerpoint/2010/main" val="3192467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F1D8C1-9F2A-9F46-8BB5-A71D6CB7E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90" y="314818"/>
            <a:ext cx="10894142" cy="121937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994919-7DC4-C821-CBED-D8AD3BB5DC81}"/>
              </a:ext>
            </a:extLst>
          </p:cNvPr>
          <p:cNvSpPr txBox="1"/>
          <p:nvPr/>
        </p:nvSpPr>
        <p:spPr>
          <a:xfrm>
            <a:off x="1341697" y="819576"/>
            <a:ext cx="511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Tableau dashboard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06BF4D92-85A0-8230-6538-1D2CB75410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90" y="1938969"/>
            <a:ext cx="10894142" cy="481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72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825B5F-9D92-BB6C-6690-E0CA48319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29" y="275421"/>
            <a:ext cx="10992466" cy="121937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292E47-B630-C32F-9096-17308344B9D6}"/>
              </a:ext>
            </a:extLst>
          </p:cNvPr>
          <p:cNvSpPr txBox="1"/>
          <p:nvPr/>
        </p:nvSpPr>
        <p:spPr>
          <a:xfrm>
            <a:off x="1641776" y="788576"/>
            <a:ext cx="4855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Excel dashboard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8AD5C1-C180-F191-2B48-D703DC82A7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29" y="1709227"/>
            <a:ext cx="10992466" cy="474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D55F04-A10E-5A46-145C-5EC61C642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42" y="418922"/>
            <a:ext cx="10002646" cy="121937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98A7D9-EE7E-000D-1FD3-4EF2758BCA8A}"/>
              </a:ext>
            </a:extLst>
          </p:cNvPr>
          <p:cNvSpPr txBox="1"/>
          <p:nvPr/>
        </p:nvSpPr>
        <p:spPr>
          <a:xfrm>
            <a:off x="1695549" y="930138"/>
            <a:ext cx="4582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SQL quires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0ADE0E-C503-C569-5DA9-4600AB1EDF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541" y="1943006"/>
            <a:ext cx="10002645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9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F13360-BF0A-8CD7-25D2-C24DCB10F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938279-13A2-7604-829C-6CFCDF87A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6" y="523714"/>
            <a:ext cx="10002646" cy="121937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102A30-826C-1094-A69A-F32D99A3E5C2}"/>
              </a:ext>
            </a:extLst>
          </p:cNvPr>
          <p:cNvSpPr txBox="1"/>
          <p:nvPr/>
        </p:nvSpPr>
        <p:spPr>
          <a:xfrm>
            <a:off x="1706567" y="1022495"/>
            <a:ext cx="4582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SQL quires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7FF4281-2AE0-DEB6-0599-501D19C585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6" y="2241866"/>
            <a:ext cx="10002645" cy="340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318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7BA6AC-2A2D-28D3-1757-91C1161B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E7E249-5A19-3816-4914-417F5E7B35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7" y="418641"/>
            <a:ext cx="10002646" cy="1219370"/>
          </a:xfrm>
          <a:prstGeom prst="rect">
            <a:avLst/>
          </a:prstGeom>
          <a:effectLst>
            <a:softEdge rad="190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0C394A-5D16-9400-EA3B-46915C471FFD}"/>
              </a:ext>
            </a:extLst>
          </p:cNvPr>
          <p:cNvSpPr txBox="1"/>
          <p:nvPr/>
        </p:nvSpPr>
        <p:spPr>
          <a:xfrm>
            <a:off x="1750633" y="853933"/>
            <a:ext cx="4582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SQL quires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F0B8CB-1E54-C96A-73D6-8BB46A1E5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7" y="2214783"/>
            <a:ext cx="10002646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22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0C20F-6D9C-C519-1189-81A404FD2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CE8A82-AEF0-7623-912F-7107483C2F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6" y="608711"/>
            <a:ext cx="10002646" cy="121937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BB8197-AB2A-EE8C-0709-96D018FB069D}"/>
              </a:ext>
            </a:extLst>
          </p:cNvPr>
          <p:cNvSpPr txBox="1"/>
          <p:nvPr/>
        </p:nvSpPr>
        <p:spPr>
          <a:xfrm>
            <a:off x="1750634" y="1110848"/>
            <a:ext cx="4582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SQL quires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7C1014-D2D8-8C52-8097-904486EB30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676" y="2252126"/>
            <a:ext cx="10002646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000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B0C9C3-D70D-A516-401D-7392ACC25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86" y="374714"/>
            <a:ext cx="10574225" cy="1219370"/>
          </a:xfrm>
          <a:prstGeom prst="rect">
            <a:avLst/>
          </a:prstGeom>
          <a:effectLst>
            <a:softEdge rad="2032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B49815-B3F8-0033-3555-75C0ABCC7F02}"/>
              </a:ext>
            </a:extLst>
          </p:cNvPr>
          <p:cNvSpPr txBox="1"/>
          <p:nvPr/>
        </p:nvSpPr>
        <p:spPr>
          <a:xfrm>
            <a:off x="1761651" y="799733"/>
            <a:ext cx="4582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SQL quires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0CAD35-B5DA-C910-139F-3238322220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87" y="1861851"/>
            <a:ext cx="10574226" cy="447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67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7A6B52-409A-938D-B56B-7678C5FF7D3B}"/>
              </a:ext>
            </a:extLst>
          </p:cNvPr>
          <p:cNvSpPr txBox="1"/>
          <p:nvPr/>
        </p:nvSpPr>
        <p:spPr>
          <a:xfrm>
            <a:off x="740228" y="821674"/>
            <a:ext cx="4506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rgbClr val="FF0000"/>
                </a:solidFill>
                <a:latin typeface="Stencil" panose="040409050D0802020404" pitchFamily="82" charset="0"/>
              </a:rPr>
              <a:t>C</a:t>
            </a:r>
            <a:r>
              <a:rPr lang="en-IN" sz="5400" dirty="0">
                <a:latin typeface="Stencil" panose="040409050D0802020404" pitchFamily="82" charset="0"/>
              </a:rPr>
              <a:t>onclusio</a:t>
            </a:r>
            <a:r>
              <a:rPr lang="en-IN" sz="5400" dirty="0">
                <a:solidFill>
                  <a:schemeClr val="accent6"/>
                </a:solidFill>
                <a:latin typeface="Stencil" panose="040409050D0802020404" pitchFamily="82" charset="0"/>
              </a:rPr>
              <a:t>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D808D-8BEC-79A1-AFC4-02F651C74E5B}"/>
              </a:ext>
            </a:extLst>
          </p:cNvPr>
          <p:cNvSpPr txBox="1"/>
          <p:nvPr/>
        </p:nvSpPr>
        <p:spPr>
          <a:xfrm>
            <a:off x="740228" y="2413337"/>
            <a:ext cx="105078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reveals several critical performance metrics and patterns for the Olist store, particularly highlighting the strong correlation between shipping speed and customer satisfaction, and key sales/payment behaviors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takeaway is that operational efficiency, particularly in reducing shipping days, is the most direct lever available to improve customer review scores and, by extension, overall business health</a:t>
            </a:r>
          </a:p>
          <a:p>
            <a:pPr marL="342900" indent="-342900" algn="just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76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E449A-F9C6-547C-60DE-79262885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A745C0-7698-7B69-C9C9-377158817B5A}"/>
              </a:ext>
            </a:extLst>
          </p:cNvPr>
          <p:cNvSpPr txBox="1"/>
          <p:nvPr/>
        </p:nvSpPr>
        <p:spPr>
          <a:xfrm>
            <a:off x="1314011" y="1521896"/>
            <a:ext cx="956397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0" dirty="0">
                <a:solidFill>
                  <a:srgbClr val="FF0000"/>
                </a:solidFill>
                <a:latin typeface="Stencil" panose="040409050D0802020404" pitchFamily="82" charset="0"/>
              </a:rPr>
              <a:t>T</a:t>
            </a:r>
            <a:r>
              <a:rPr lang="en-IN" sz="9600" dirty="0">
                <a:latin typeface="Stencil" panose="040409050D0802020404" pitchFamily="82" charset="0"/>
              </a:rPr>
              <a:t>hank</a:t>
            </a:r>
            <a:r>
              <a:rPr lang="en-IN" sz="9600" dirty="0">
                <a:solidFill>
                  <a:schemeClr val="accent6"/>
                </a:solidFill>
                <a:latin typeface="Stencil" panose="040409050D0802020404" pitchFamily="82" charset="0"/>
              </a:rPr>
              <a:t> </a:t>
            </a:r>
            <a:r>
              <a:rPr lang="en-IN" sz="9600" dirty="0">
                <a:latin typeface="Stencil" panose="040409050D0802020404" pitchFamily="82" charset="0"/>
              </a:rPr>
              <a:t>Yo</a:t>
            </a:r>
            <a:r>
              <a:rPr lang="en-IN" sz="9600" dirty="0">
                <a:solidFill>
                  <a:schemeClr val="accent6"/>
                </a:solidFill>
                <a:latin typeface="Stencil" panose="040409050D0802020404" pitchFamily="82" charset="0"/>
              </a:rPr>
              <a:t>u </a:t>
            </a:r>
            <a:endParaRPr lang="en-IN" sz="11500" dirty="0">
              <a:solidFill>
                <a:schemeClr val="accent6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24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686</Words>
  <Application>Microsoft Office PowerPoint</Application>
  <PresentationFormat>Widescreen</PresentationFormat>
  <Paragraphs>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Black</vt:lpstr>
      <vt:lpstr>Arial Nova Cond</vt:lpstr>
      <vt:lpstr>Calibri</vt:lpstr>
      <vt:lpstr>Calibri Light</vt:lpstr>
      <vt:lpstr>Stencil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kishor</dc:creator>
  <cp:lastModifiedBy>Mahek Shaikh</cp:lastModifiedBy>
  <cp:revision>4</cp:revision>
  <dcterms:created xsi:type="dcterms:W3CDTF">2025-12-10T07:38:43Z</dcterms:created>
  <dcterms:modified xsi:type="dcterms:W3CDTF">2025-12-16T05:03:59Z</dcterms:modified>
</cp:coreProperties>
</file>